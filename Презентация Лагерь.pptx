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Inter"/>
      <p:bold r:id="rId13"/>
      <p:italic r:id="rId14"/>
    </p:embeddedFont>
    <p:embeddedFont>
      <p:font typeface="Inter SemiBold"/>
    </p:embeddedFont>
    <p:embeddedFont>
      <p:font typeface="JetBrains Mono"/>
      <p:regular r:id="rId15"/>
      <p:bold r:id="rId16"/>
      <p:italic r:id="rId17"/>
      <p:boldItalic r:id="rId18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_1_Inter_Bold.fntdata"/><Relationship Id="rId14" Type="http://schemas.openxmlformats.org/officeDocument/2006/relationships/font" Target="fonts/Font_2_Inter_Italic.fntdata"/><Relationship Id="rId15" Type="http://schemas.openxmlformats.org/officeDocument/2006/relationships/font" Target="fonts/Font_3_JetBrains_Mono_Regular.fntdata"/><Relationship Id="rId16" Type="http://schemas.openxmlformats.org/officeDocument/2006/relationships/font" Target="fonts/Font_4_JetBrains_Mono_Bold.fntdata"/><Relationship Id="rId17" Type="http://schemas.openxmlformats.org/officeDocument/2006/relationships/font" Target="fonts/Font_5_JetBrains_Mono_Italic.fntdata"/><Relationship Id="rId18" Type="http://schemas.openxmlformats.org/officeDocument/2006/relationships/font" Target="fonts/Font_6_JetBrains_Mono_BoldItalic.fntdata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49625F-B91F-48C1-8A2B-B4AD96B675B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99CEF3-B85A-4D74-AE09-0D8DCA5634E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D1B43C-6EF8-47D2-8F9E-4D732C49319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4F5D52-B03B-4A01-8DD5-5BE54F6C1B1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3C69FD-61D7-4B27-8D03-8337A4FD179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2DB757-F01A-4EDC-96A2-75682C01871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8E5564-C5C0-4F71-ACFC-7E79C0AB585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63CCD2-908B-460C-8DB3-C76352A3AC1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BAC242-6A99-4A0C-ADD9-1D1FD798E8E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94CF4A-7746-4BD8-98B7-F4953AB712C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buNone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17B827-5C20-4A63-A059-63EDC950F4F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4.png"/><Relationship Id="rId7" Type="http://schemas.openxmlformats.org/officeDocument/2006/relationships/image" Target="../media/image24.png"/><Relationship Id="rId8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1695600" y="4381560"/>
            <a:ext cx="8800920" cy="5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86;p13"/>
          <p:cNvSpPr/>
          <p:nvPr/>
        </p:nvSpPr>
        <p:spPr>
          <a:xfrm>
            <a:off x="3940560" y="1895400"/>
            <a:ext cx="431028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Camp Portal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1809720" y="3105000"/>
            <a:ext cx="85723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Информационная система управления детским оздоровительным лагерем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Google Shape;88;p13" descr="image.png"/>
          <p:cNvPicPr/>
          <p:nvPr/>
        </p:nvPicPr>
        <p:blipFill>
          <a:blip r:embed="rId3"/>
          <a:stretch/>
        </p:blipFill>
        <p:spPr>
          <a:xfrm>
            <a:off x="2076480" y="4591080"/>
            <a:ext cx="218880" cy="17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93;p14" descr="image.png"/>
          <p:cNvPicPr/>
          <p:nvPr/>
        </p:nvPicPr>
        <p:blipFill>
          <a:blip r:embed="rId1"/>
          <a:stretch/>
        </p:blipFill>
        <p:spPr>
          <a:xfrm>
            <a:off x="360" y="36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5;p14"/>
          <p:cNvSpPr/>
          <p:nvPr/>
        </p:nvSpPr>
        <p:spPr>
          <a:xfrm>
            <a:off x="571680" y="253836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Основные цели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6;p14"/>
          <p:cNvSpPr/>
          <p:nvPr/>
        </p:nvSpPr>
        <p:spPr>
          <a:xfrm>
            <a:off x="6559920" y="2868840"/>
            <a:ext cx="4780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7;p14"/>
          <p:cNvSpPr/>
          <p:nvPr/>
        </p:nvSpPr>
        <p:spPr>
          <a:xfrm>
            <a:off x="6676920" y="3529080"/>
            <a:ext cx="45525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8;p14"/>
          <p:cNvSpPr/>
          <p:nvPr/>
        </p:nvSpPr>
        <p:spPr>
          <a:xfrm>
            <a:off x="1000080" y="305280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Разработка учебного веб-проекта (MVP)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9;p14"/>
          <p:cNvSpPr/>
          <p:nvPr/>
        </p:nvSpPr>
        <p:spPr>
          <a:xfrm>
            <a:off x="1000080" y="3605040"/>
            <a:ext cx="4905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Автоматизация учета детей и сотрудников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0;p14"/>
          <p:cNvSpPr/>
          <p:nvPr/>
        </p:nvSpPr>
        <p:spPr>
          <a:xfrm>
            <a:off x="1000080" y="415764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Организация системы мероприятий и отчетов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1;p14"/>
          <p:cNvSpPr/>
          <p:nvPr/>
        </p:nvSpPr>
        <p:spPr>
          <a:xfrm>
            <a:off x="1000080" y="471024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Реализация безопасной авторизации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2;p14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ЦЕЛИ И ФОРМАТ ПРОЕКТА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03;p14" descr="image.png"/>
          <p:cNvPicPr/>
          <p:nvPr/>
        </p:nvPicPr>
        <p:blipFill>
          <a:blip r:embed="rId2"/>
          <a:stretch/>
        </p:blipFill>
        <p:spPr>
          <a:xfrm>
            <a:off x="571680" y="30528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4;p14" descr="image.png"/>
          <p:cNvPicPr/>
          <p:nvPr/>
        </p:nvPicPr>
        <p:blipFill>
          <a:blip r:embed="rId3"/>
          <a:stretch/>
        </p:blipFill>
        <p:spPr>
          <a:xfrm>
            <a:off x="571680" y="360504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05;p14" descr="image.png"/>
          <p:cNvPicPr/>
          <p:nvPr/>
        </p:nvPicPr>
        <p:blipFill>
          <a:blip r:embed="rId4"/>
          <a:stretch/>
        </p:blipFill>
        <p:spPr>
          <a:xfrm>
            <a:off x="571680" y="415764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oogle Shape;106;p14" descr="image.png"/>
          <p:cNvPicPr/>
          <p:nvPr/>
        </p:nvPicPr>
        <p:blipFill>
          <a:blip r:embed="rId5"/>
          <a:stretch/>
        </p:blipFill>
        <p:spPr>
          <a:xfrm>
            <a:off x="571680" y="4710240"/>
            <a:ext cx="228240" cy="24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11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12;p15" descr="image.png"/>
          <p:cNvPicPr/>
          <p:nvPr/>
        </p:nvPicPr>
        <p:blipFill>
          <a:blip r:embed="rId2"/>
          <a:stretch/>
        </p:blipFill>
        <p:spPr>
          <a:xfrm>
            <a:off x="571680" y="2381400"/>
            <a:ext cx="3492360" cy="303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Google Shape;113;p15" descr="image.png"/>
          <p:cNvPicPr/>
          <p:nvPr/>
        </p:nvPicPr>
        <p:blipFill>
          <a:blip r:embed="rId3"/>
          <a:stretch/>
        </p:blipFill>
        <p:spPr>
          <a:xfrm>
            <a:off x="4349880" y="2381400"/>
            <a:ext cx="3492360" cy="303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14;p15" descr="image.png"/>
          <p:cNvPicPr/>
          <p:nvPr/>
        </p:nvPicPr>
        <p:blipFill>
          <a:blip r:embed="rId4"/>
          <a:stretch/>
        </p:blipFill>
        <p:spPr>
          <a:xfrm>
            <a:off x="8128080" y="2381400"/>
            <a:ext cx="3492360" cy="30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Google Shape;115;p15"/>
          <p:cNvSpPr/>
          <p:nvPr/>
        </p:nvSpPr>
        <p:spPr>
          <a:xfrm>
            <a:off x="961920" y="3571920"/>
            <a:ext cx="2846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Backend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6;p15"/>
          <p:cNvSpPr/>
          <p:nvPr/>
        </p:nvSpPr>
        <p:spPr>
          <a:xfrm>
            <a:off x="961920" y="4086360"/>
            <a:ext cx="271116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Python 3.12, FastAPI, SQLAlchemy, PostgreSQL, Uvicorn.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7;p15"/>
          <p:cNvSpPr/>
          <p:nvPr/>
        </p:nvSpPr>
        <p:spPr>
          <a:xfrm>
            <a:off x="4740480" y="3571920"/>
            <a:ext cx="2846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Frontend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8;p15"/>
          <p:cNvSpPr/>
          <p:nvPr/>
        </p:nvSpPr>
        <p:spPr>
          <a:xfrm>
            <a:off x="4740480" y="4086360"/>
            <a:ext cx="271116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JS, HTML, CSS.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9;p15"/>
          <p:cNvSpPr/>
          <p:nvPr/>
        </p:nvSpPr>
        <p:spPr>
          <a:xfrm>
            <a:off x="8518680" y="3571920"/>
            <a:ext cx="28468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Security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20;p15"/>
          <p:cNvSpPr/>
          <p:nvPr/>
        </p:nvSpPr>
        <p:spPr>
          <a:xfrm>
            <a:off x="8518680" y="4086360"/>
            <a:ext cx="271116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JWT (Bearer token), Pydantic validation.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Google Shape;121;p15" descr="image.png"/>
          <p:cNvPicPr/>
          <p:nvPr/>
        </p:nvPicPr>
        <p:blipFill>
          <a:blip r:embed="rId5"/>
          <a:stretch/>
        </p:blipFill>
        <p:spPr>
          <a:xfrm>
            <a:off x="961920" y="28195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22;p15" descr="image.png"/>
          <p:cNvPicPr/>
          <p:nvPr/>
        </p:nvPicPr>
        <p:blipFill>
          <a:blip r:embed="rId6"/>
          <a:stretch/>
        </p:blipFill>
        <p:spPr>
          <a:xfrm>
            <a:off x="4740480" y="2819520"/>
            <a:ext cx="57132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23;p15" descr="image.png"/>
          <p:cNvPicPr/>
          <p:nvPr/>
        </p:nvPicPr>
        <p:blipFill>
          <a:blip r:embed="rId7"/>
          <a:stretch/>
        </p:blipFill>
        <p:spPr>
          <a:xfrm>
            <a:off x="8518680" y="28195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Google Shape;124;p15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ТЕХНОЛОГИЧЕСКИЙ СТЕК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29;p16" descr="image.png"/>
          <p:cNvPicPr/>
          <p:nvPr/>
        </p:nvPicPr>
        <p:blipFill>
          <a:blip r:embed="rId1"/>
          <a:stretch/>
        </p:blipFill>
        <p:spPr>
          <a:xfrm>
            <a:off x="3600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oogle Shape;130;p16" descr="image.png"/>
          <p:cNvPicPr/>
          <p:nvPr/>
        </p:nvPicPr>
        <p:blipFill>
          <a:blip r:embed="rId2"/>
          <a:stretch/>
        </p:blipFill>
        <p:spPr>
          <a:xfrm>
            <a:off x="6286680" y="1757520"/>
            <a:ext cx="533376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Google Shape;131;p16"/>
          <p:cNvSpPr/>
          <p:nvPr/>
        </p:nvSpPr>
        <p:spPr>
          <a:xfrm>
            <a:off x="571680" y="209088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Ролевая модель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2;p16"/>
          <p:cNvSpPr/>
          <p:nvPr/>
        </p:nvSpPr>
        <p:spPr>
          <a:xfrm>
            <a:off x="571680" y="2604960"/>
            <a:ext cx="53337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Система поддерживает три ключевые роли: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4;p16"/>
          <p:cNvSpPr/>
          <p:nvPr/>
        </p:nvSpPr>
        <p:spPr>
          <a:xfrm>
            <a:off x="1000080" y="3110040"/>
            <a:ext cx="49050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Администратор: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полное управление сменами и персоналом.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5;p16"/>
          <p:cNvSpPr/>
          <p:nvPr/>
        </p:nvSpPr>
        <p:spPr>
          <a:xfrm>
            <a:off x="1000080" y="3976560"/>
            <a:ext cx="49050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Организатор: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работа с мероприятиями и детьми.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6;p16"/>
          <p:cNvSpPr/>
          <p:nvPr/>
        </p:nvSpPr>
        <p:spPr>
          <a:xfrm>
            <a:off x="1000080" y="4843440"/>
            <a:ext cx="490500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Вожатый: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 отчетность по отрядам и расписание.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7;p16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ВАРИАНТЫ ИСПОЛЬЗОВАНИЯ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Google Shape;138;p16" descr="image.png"/>
          <p:cNvPicPr/>
          <p:nvPr/>
        </p:nvPicPr>
        <p:blipFill>
          <a:blip r:embed="rId3"/>
          <a:stretch/>
        </p:blipFill>
        <p:spPr>
          <a:xfrm>
            <a:off x="571680" y="311004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oogle Shape;139;p16" descr="image.png"/>
          <p:cNvPicPr/>
          <p:nvPr/>
        </p:nvPicPr>
        <p:blipFill>
          <a:blip r:embed="rId4"/>
          <a:stretch/>
        </p:blipFill>
        <p:spPr>
          <a:xfrm>
            <a:off x="571680" y="397656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Google Shape;140;p16" descr="image.png"/>
          <p:cNvPicPr/>
          <p:nvPr/>
        </p:nvPicPr>
        <p:blipFill>
          <a:blip r:embed="rId5"/>
          <a:stretch/>
        </p:blipFill>
        <p:spPr>
          <a:xfrm>
            <a:off x="571680" y="484344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6"/>
          <a:stretch/>
        </p:blipFill>
        <p:spPr>
          <a:xfrm>
            <a:off x="7020000" y="1800000"/>
            <a:ext cx="3925080" cy="42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45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Google Shape;146;p17" descr="image.png"/>
          <p:cNvPicPr/>
          <p:nvPr/>
        </p:nvPicPr>
        <p:blipFill>
          <a:blip r:embed="rId2"/>
          <a:stretch/>
        </p:blipFill>
        <p:spPr>
          <a:xfrm>
            <a:off x="6286680" y="1757520"/>
            <a:ext cx="533376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47;p17"/>
          <p:cNvSpPr/>
          <p:nvPr/>
        </p:nvSpPr>
        <p:spPr>
          <a:xfrm>
            <a:off x="571680" y="204300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Deployment Diagram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8;p17"/>
          <p:cNvSpPr/>
          <p:nvPr/>
        </p:nvSpPr>
        <p:spPr>
          <a:xfrm>
            <a:off x="571680" y="2557440"/>
            <a:ext cx="53337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Клиентская часть (SPA) взаимодействует с сервером через HTTPS / REST API.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9;p17"/>
          <p:cNvSpPr/>
          <p:nvPr/>
        </p:nvSpPr>
        <p:spPr>
          <a:xfrm>
            <a:off x="571680" y="3376440"/>
            <a:ext cx="53337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Серверная часть развернута в облаке </a:t>
            </a: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Render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, используя: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51;p17"/>
          <p:cNvSpPr/>
          <p:nvPr/>
        </p:nvSpPr>
        <p:spPr>
          <a:xfrm>
            <a:off x="1000080" y="4100400"/>
            <a:ext cx="4905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Uvicorn 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52;p17"/>
          <p:cNvSpPr/>
          <p:nvPr/>
        </p:nvSpPr>
        <p:spPr>
          <a:xfrm>
            <a:off x="1000080" y="4653000"/>
            <a:ext cx="4905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FastAPI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53;p17"/>
          <p:cNvSpPr/>
          <p:nvPr/>
        </p:nvSpPr>
        <p:spPr>
          <a:xfrm>
            <a:off x="1000080" y="520524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Database Server (PostgreSQL)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4;p17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АРХИТЕКТУРА РАЗВЕРТЫВАНИЯ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Google Shape;155;p17" descr="image.png"/>
          <p:cNvPicPr/>
          <p:nvPr/>
        </p:nvPicPr>
        <p:blipFill>
          <a:blip r:embed="rId3"/>
          <a:stretch/>
        </p:blipFill>
        <p:spPr>
          <a:xfrm>
            <a:off x="571680" y="41004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56;p17" descr="image.png"/>
          <p:cNvPicPr/>
          <p:nvPr/>
        </p:nvPicPr>
        <p:blipFill>
          <a:blip r:embed="rId4"/>
          <a:stretch/>
        </p:blipFill>
        <p:spPr>
          <a:xfrm>
            <a:off x="571680" y="465300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157;p17" descr="image.png"/>
          <p:cNvPicPr/>
          <p:nvPr/>
        </p:nvPicPr>
        <p:blipFill>
          <a:blip r:embed="rId5"/>
          <a:stretch/>
        </p:blipFill>
        <p:spPr>
          <a:xfrm>
            <a:off x="571680" y="520524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6"/>
          <a:stretch/>
        </p:blipFill>
        <p:spPr>
          <a:xfrm>
            <a:off x="6286680" y="1800000"/>
            <a:ext cx="5400000" cy="42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62;p18" descr="image.png"/>
          <p:cNvPicPr/>
          <p:nvPr/>
        </p:nvPicPr>
        <p:blipFill>
          <a:blip r:embed="rId1"/>
          <a:stretch/>
        </p:blipFill>
        <p:spPr>
          <a:xfrm>
            <a:off x="36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Google Shape;164;p18"/>
          <p:cNvSpPr/>
          <p:nvPr/>
        </p:nvSpPr>
        <p:spPr>
          <a:xfrm>
            <a:off x="571680" y="224784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ER-диаграмма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5;p18"/>
          <p:cNvSpPr/>
          <p:nvPr/>
        </p:nvSpPr>
        <p:spPr>
          <a:xfrm>
            <a:off x="571680" y="2762280"/>
            <a:ext cx="533376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Реляционная модель данных спроектирована для обеспечения целостности информации о лагере.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7;p18"/>
          <p:cNvSpPr/>
          <p:nvPr/>
        </p:nvSpPr>
        <p:spPr>
          <a:xfrm>
            <a:off x="1000080" y="3581280"/>
            <a:ext cx="49050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8;p18"/>
          <p:cNvSpPr/>
          <p:nvPr/>
        </p:nvSpPr>
        <p:spPr>
          <a:xfrm>
            <a:off x="1000080" y="4448160"/>
            <a:ext cx="4905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9;p18"/>
          <p:cNvSpPr/>
          <p:nvPr/>
        </p:nvSpPr>
        <p:spPr>
          <a:xfrm>
            <a:off x="1000080" y="5000760"/>
            <a:ext cx="49050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0;p18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СТРУКТУРА БАЗЫ ДАННЫХ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2"/>
          <a:stretch/>
        </p:blipFill>
        <p:spPr>
          <a:xfrm>
            <a:off x="6120000" y="2160000"/>
            <a:ext cx="5760000" cy="352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78;p19" descr="image.png"/>
          <p:cNvPicPr/>
          <p:nvPr/>
        </p:nvPicPr>
        <p:blipFill>
          <a:blip r:embed="rId1"/>
          <a:stretch/>
        </p:blipFill>
        <p:spPr>
          <a:xfrm>
            <a:off x="4824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Google Shape;180;p19"/>
          <p:cNvSpPr/>
          <p:nvPr/>
        </p:nvSpPr>
        <p:spPr>
          <a:xfrm>
            <a:off x="571680" y="212868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Sequence Diagram (Auth)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81;p19"/>
          <p:cNvSpPr/>
          <p:nvPr/>
        </p:nvSpPr>
        <p:spPr>
          <a:xfrm>
            <a:off x="571680" y="2643120"/>
            <a:ext cx="53337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Процесс входа в систему реализован через JWT-токены: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" name="Google Shape;182;p19" descr="image.png"/>
          <p:cNvPicPr/>
          <p:nvPr/>
        </p:nvPicPr>
        <p:blipFill>
          <a:blip r:embed="rId2"/>
          <a:stretch/>
        </p:blipFill>
        <p:spPr>
          <a:xfrm>
            <a:off x="6296040" y="1766880"/>
            <a:ext cx="5314680" cy="42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Google Shape;183;p19"/>
          <p:cNvSpPr/>
          <p:nvPr/>
        </p:nvSpPr>
        <p:spPr>
          <a:xfrm>
            <a:off x="1000080" y="346248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Передача Email и пароля через POST-запрос.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84;p19"/>
          <p:cNvSpPr/>
          <p:nvPr/>
        </p:nvSpPr>
        <p:spPr>
          <a:xfrm>
            <a:off x="1000080" y="401472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Валидация пользователя в PostgreSQL.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5;p19"/>
          <p:cNvSpPr/>
          <p:nvPr/>
        </p:nvSpPr>
        <p:spPr>
          <a:xfrm>
            <a:off x="1000080" y="456732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Генерация и возврат Bearer-токена.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6;p19"/>
          <p:cNvSpPr/>
          <p:nvPr/>
        </p:nvSpPr>
        <p:spPr>
          <a:xfrm>
            <a:off x="1000080" y="511956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Сохранение токена в LocalStorage браузера.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87;p19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ЛОГИКА АВТОРИЗАЦИИ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Google Shape;188;p19" descr="image.png"/>
          <p:cNvPicPr/>
          <p:nvPr/>
        </p:nvPicPr>
        <p:blipFill>
          <a:blip r:embed="rId3"/>
          <a:stretch/>
        </p:blipFill>
        <p:spPr>
          <a:xfrm>
            <a:off x="571680" y="346248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189;p19" descr="image.png"/>
          <p:cNvPicPr/>
          <p:nvPr/>
        </p:nvPicPr>
        <p:blipFill>
          <a:blip r:embed="rId4"/>
          <a:stretch/>
        </p:blipFill>
        <p:spPr>
          <a:xfrm>
            <a:off x="571680" y="40147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190;p19" descr="image.png"/>
          <p:cNvPicPr/>
          <p:nvPr/>
        </p:nvPicPr>
        <p:blipFill>
          <a:blip r:embed="rId5"/>
          <a:stretch/>
        </p:blipFill>
        <p:spPr>
          <a:xfrm>
            <a:off x="571680" y="45673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191;p19" descr="image.png"/>
          <p:cNvPicPr/>
          <p:nvPr/>
        </p:nvPicPr>
        <p:blipFill>
          <a:blip r:embed="rId6"/>
          <a:stretch/>
        </p:blipFill>
        <p:spPr>
          <a:xfrm>
            <a:off x="571680" y="511956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7"/>
          <a:stretch/>
        </p:blipFill>
        <p:spPr>
          <a:xfrm>
            <a:off x="6300000" y="900000"/>
            <a:ext cx="4053600" cy="574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97;p20" descr="image.png"/>
          <p:cNvPicPr/>
          <p:nvPr/>
        </p:nvPicPr>
        <p:blipFill>
          <a:blip r:embed="rId1"/>
          <a:stretch/>
        </p:blipFill>
        <p:spPr>
          <a:xfrm>
            <a:off x="571680" y="2033640"/>
            <a:ext cx="3555720" cy="33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198;p20" descr="image.png"/>
          <p:cNvPicPr/>
          <p:nvPr/>
        </p:nvPicPr>
        <p:blipFill>
          <a:blip r:embed="rId2"/>
          <a:stretch/>
        </p:blipFill>
        <p:spPr>
          <a:xfrm>
            <a:off x="4317840" y="2033640"/>
            <a:ext cx="3555720" cy="333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199;p20" descr="image.png"/>
          <p:cNvPicPr/>
          <p:nvPr/>
        </p:nvPicPr>
        <p:blipFill>
          <a:blip r:embed="rId3"/>
          <a:stretch/>
        </p:blipFill>
        <p:spPr>
          <a:xfrm>
            <a:off x="8064360" y="2033640"/>
            <a:ext cx="355572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Google Shape;200;p20"/>
          <p:cNvSpPr/>
          <p:nvPr/>
        </p:nvSpPr>
        <p:spPr>
          <a:xfrm>
            <a:off x="571680" y="5510160"/>
            <a:ext cx="3555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Форма входа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01;p20"/>
          <p:cNvSpPr/>
          <p:nvPr/>
        </p:nvSpPr>
        <p:spPr>
          <a:xfrm>
            <a:off x="4317840" y="5510160"/>
            <a:ext cx="3555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Режим дня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02;p20"/>
          <p:cNvSpPr/>
          <p:nvPr/>
        </p:nvSpPr>
        <p:spPr>
          <a:xfrm>
            <a:off x="8064360" y="5510160"/>
            <a:ext cx="3555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Управление мероприятиями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06;p20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ИНТЕРФЕЙС СИСТЕМЫ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"/>
          <p:cNvPicPr/>
          <p:nvPr/>
        </p:nvPicPr>
        <p:blipFill>
          <a:blip r:embed="rId4"/>
          <a:stretch/>
        </p:blipFill>
        <p:spPr>
          <a:xfrm>
            <a:off x="571680" y="2329920"/>
            <a:ext cx="3555720" cy="28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"/>
          <p:cNvPicPr/>
          <p:nvPr/>
        </p:nvPicPr>
        <p:blipFill>
          <a:blip r:embed="rId5"/>
          <a:stretch/>
        </p:blipFill>
        <p:spPr>
          <a:xfrm>
            <a:off x="4317840" y="2248920"/>
            <a:ext cx="3555720" cy="29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"/>
          <p:cNvPicPr/>
          <p:nvPr/>
        </p:nvPicPr>
        <p:blipFill>
          <a:blip r:embed="rId6"/>
          <a:stretch/>
        </p:blipFill>
        <p:spPr>
          <a:xfrm>
            <a:off x="8064360" y="2260440"/>
            <a:ext cx="3555720" cy="295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211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Google Shape;212;p21" descr="image.png"/>
          <p:cNvPicPr/>
          <p:nvPr/>
        </p:nvPicPr>
        <p:blipFill>
          <a:blip r:embed="rId2"/>
          <a:stretch/>
        </p:blipFill>
        <p:spPr>
          <a:xfrm>
            <a:off x="6286680" y="2575080"/>
            <a:ext cx="5333760" cy="265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13;p21"/>
          <p:cNvSpPr/>
          <p:nvPr/>
        </p:nvSpPr>
        <p:spPr>
          <a:xfrm>
            <a:off x="571680" y="2128680"/>
            <a:ext cx="56005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818CF8"/>
                </a:solidFill>
                <a:effectLst/>
                <a:uFillTx/>
                <a:latin typeface="Inter SemiBold"/>
                <a:ea typeface="Inter SemiBold"/>
              </a:rPr>
              <a:t>Результаты тестирования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14;p21"/>
          <p:cNvSpPr/>
          <p:nvPr/>
        </p:nvSpPr>
        <p:spPr>
          <a:xfrm>
            <a:off x="571680" y="2643120"/>
            <a:ext cx="53337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Надежность системы подтверждена автоматизированными тестами: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16;p21"/>
          <p:cNvSpPr/>
          <p:nvPr/>
        </p:nvSpPr>
        <p:spPr>
          <a:xfrm>
            <a:off x="1000080" y="346248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Фреймворк: </a:t>
            </a: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Pytest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17;p21"/>
          <p:cNvSpPr/>
          <p:nvPr/>
        </p:nvSpPr>
        <p:spPr>
          <a:xfrm>
            <a:off x="1000080" y="401472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Всего тестов: </a:t>
            </a: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23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18;p21"/>
          <p:cNvSpPr/>
          <p:nvPr/>
        </p:nvSpPr>
        <p:spPr>
          <a:xfrm>
            <a:off x="1000080" y="456732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Статус: </a:t>
            </a:r>
            <a:r>
              <a:rPr lang="en-US" sz="1650" b="1" u="none" strike="noStrike">
                <a:solidFill>
                  <a:srgbClr val="22C55E"/>
                </a:solidFill>
                <a:effectLst/>
                <a:uFillTx/>
                <a:latin typeface="Inter"/>
                <a:ea typeface="Inter"/>
              </a:rPr>
              <a:t>PASSED (100%)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19;p21"/>
          <p:cNvSpPr/>
          <p:nvPr/>
        </p:nvSpPr>
        <p:spPr>
          <a:xfrm>
            <a:off x="1000080" y="5119560"/>
            <a:ext cx="4905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Время выполнения: ~7.71 сек.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20;p21"/>
          <p:cNvSpPr/>
          <p:nvPr/>
        </p:nvSpPr>
        <p:spPr>
          <a:xfrm>
            <a:off x="571680" y="571680"/>
            <a:ext cx="116010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2D3EE"/>
                </a:solidFill>
                <a:effectLst/>
                <a:uFillTx/>
                <a:latin typeface="Inter SemiBold"/>
                <a:ea typeface="Inter SemiBold"/>
              </a:rPr>
              <a:t>ТЕСТИРОВАНИЕ И КАЧЕСТВО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Google Shape;221;p21" descr="image.png"/>
          <p:cNvPicPr/>
          <p:nvPr/>
        </p:nvPicPr>
        <p:blipFill>
          <a:blip r:embed="rId3"/>
          <a:stretch/>
        </p:blipFill>
        <p:spPr>
          <a:xfrm>
            <a:off x="571680" y="346248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oogle Shape;222;p21" descr="image.png"/>
          <p:cNvPicPr/>
          <p:nvPr/>
        </p:nvPicPr>
        <p:blipFill>
          <a:blip r:embed="rId4"/>
          <a:stretch/>
        </p:blipFill>
        <p:spPr>
          <a:xfrm>
            <a:off x="571680" y="40147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Google Shape;223;p21" descr="image.png"/>
          <p:cNvPicPr/>
          <p:nvPr/>
        </p:nvPicPr>
        <p:blipFill>
          <a:blip r:embed="rId5"/>
          <a:stretch/>
        </p:blipFill>
        <p:spPr>
          <a:xfrm>
            <a:off x="571680" y="456732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Google Shape;224;p21" descr="image.png"/>
          <p:cNvPicPr/>
          <p:nvPr/>
        </p:nvPicPr>
        <p:blipFill>
          <a:blip r:embed="rId6"/>
          <a:stretch/>
        </p:blipFill>
        <p:spPr>
          <a:xfrm>
            <a:off x="571680" y="5119560"/>
            <a:ext cx="22824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"/>
          <p:cNvPicPr/>
          <p:nvPr/>
        </p:nvPicPr>
        <p:blipFill>
          <a:blip r:embed="rId7"/>
          <a:stretch/>
        </p:blipFill>
        <p:spPr>
          <a:xfrm>
            <a:off x="5580000" y="1800000"/>
            <a:ext cx="6300000" cy="41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229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Google Shape;230;p22"/>
          <p:cNvSpPr/>
          <p:nvPr/>
        </p:nvSpPr>
        <p:spPr>
          <a:xfrm>
            <a:off x="1560600" y="2209680"/>
            <a:ext cx="9070920" cy="92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22D3EE"/>
                </a:solidFill>
                <a:effectLst/>
                <a:uFillTx/>
                <a:latin typeface="Inter"/>
                <a:ea typeface="Inter"/>
              </a:rPr>
              <a:t>Спасибо за внимание!</a:t>
            </a:r>
            <a:endParaRPr lang="ru-RU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1;p22"/>
          <p:cNvSpPr/>
          <p:nvPr/>
        </p:nvSpPr>
        <p:spPr>
          <a:xfrm>
            <a:off x="3467160" y="3419640"/>
            <a:ext cx="525744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2;p22"/>
          <p:cNvSpPr/>
          <p:nvPr/>
        </p:nvSpPr>
        <p:spPr>
          <a:xfrm>
            <a:off x="4714920" y="4448160"/>
            <a:ext cx="27619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2026-05-30T15:30:50Z</dcterms:modified>
  <cp:revision>1</cp:revision>
  <dc:subject/>
  <dc:title/>
</cp:coreProperties>
</file>